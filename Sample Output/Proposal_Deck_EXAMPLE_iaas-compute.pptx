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FTE</c:v>
                </c:pt>
              </c:strCache>
            </c:strRef>
          </c:tx>
          <c:spPr>
            <a:solidFill>
              <a:srgbClr val="2E6E8E"/>
            </a:solidFill>
          </c:spPr>
          <c:cat>
            <c:strRef>
              <c:f>Sheet1!$A$2:$A$2</c:f>
              <c:strCache>
                <c:ptCount val="1"/>
                <c:pt idx="0">
                  <c:v>PL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8.85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253242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AF0"/>
            </a:solidFill>
          </a:ln>
        </c:spPr>
        <c:txPr>
          <a:bodyPr/>
          <a:lstStyle/>
          <a:p>
            <a:pPr>
              <a:defRPr sz="1050">
                <a:solidFill>
                  <a:srgbClr val="25324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4EAF0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4EAF0"/>
            </a:solidFill>
          </a:ln>
        </c:spPr>
        <c:txPr>
          <a:bodyPr/>
          <a:lstStyle/>
          <a:p>
            <a:pPr>
              <a:defRPr sz="1050">
                <a:solidFill>
                  <a:srgbClr val="6B7785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charge</c:v>
                </c:pt>
              </c:strCache>
            </c:strRef>
          </c:tx>
          <c:spPr>
            <a:solidFill>
              <a:srgbClr val="1F3556"/>
            </a:solidFill>
          </c:spP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2386664</c:v>
                </c:pt>
                <c:pt idx="1">
                  <c:v>6273198</c:v>
                </c:pt>
                <c:pt idx="2">
                  <c:v>6876160</c:v>
                </c:pt>
                <c:pt idx="3">
                  <c:v>7013683</c:v>
                </c:pt>
                <c:pt idx="4">
                  <c:v>7153956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AF0"/>
            </a:solidFill>
          </a:ln>
        </c:spPr>
        <c:txPr>
          <a:bodyPr/>
          <a:lstStyle/>
          <a:p>
            <a:pPr>
              <a:defRPr sz="1050">
                <a:solidFill>
                  <a:srgbClr val="25324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4EAF0"/>
              </a:solidFill>
            </a:ln>
          </c:spPr>
        </c:majorGridlines>
        <c:numFmt formatCode="&quot;£&quot;#,##0,,&quot;M&quot;" sourceLinked="0"/>
        <c:majorTickMark val="none"/>
        <c:minorTickMark val="none"/>
        <c:tickLblPos val="nextTo"/>
        <c:spPr>
          <a:ln>
            <a:solidFill>
              <a:srgbClr val="E4EAF0"/>
            </a:solidFill>
          </a:ln>
        </c:spPr>
        <c:txPr>
          <a:bodyPr/>
          <a:lstStyle/>
          <a:p>
            <a:pPr>
              <a:defRPr sz="1050">
                <a:solidFill>
                  <a:srgbClr val="6B7785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stating this is an illustrative model on synthetic rates. The point is the workflow from RFP to costed solution, not the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to linger on. The observation is what separates an architect from a calculator — offer the sensitivity run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here. Nothing in the price is unattributed — every figure traces to the RFP, to a decision the user made, or to a flagged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FB3C9"/>
                </a:solidFill>
                <a:latin typeface="Calibri"/>
              </a:rPr>
              <a:t>SOLUTION &amp; COST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Aurelian Global Holdings plc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81683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BD9E4"/>
                </a:solidFill>
                <a:latin typeface="Calibri"/>
              </a:rPr>
              <a:t>IaaS Compute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E9DB5"/>
                </a:solidFill>
                <a:latin typeface="Calibri"/>
              </a:rPr>
              <a:t>RFP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1830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AG/2026/IAAS/402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448056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E9DB5"/>
                </a:solidFill>
                <a:latin typeface="Calibri"/>
              </a:rPr>
              <a:t>CONTRACT 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471830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5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48056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E9DB5"/>
                </a:solidFill>
                <a:latin typeface="Calibri"/>
              </a:rPr>
              <a:t>INSTANCES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71830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549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39" y="448056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E9DB5"/>
                </a:solidFill>
                <a:latin typeface="Calibri"/>
              </a:rPr>
              <a:t>TOTAL CONTRACT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39" y="471830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£30,577,346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6364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E9DB5"/>
                </a:solidFill>
                <a:latin typeface="Calibri"/>
              </a:rPr>
              <a:t>ILLUSTRATIVE MODEL — synthetic rates, not NSC pricing.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6E8E"/>
                </a:solidFill>
                <a:latin typeface="Calibri"/>
              </a:rPr>
              <a:t>SOLUTION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F3556"/>
                </a:solidFill>
                <a:latin typeface="Cambria"/>
              </a:rPr>
              <a:t>What we would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615184" cy="11704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746504"/>
            <a:ext cx="26151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549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25867"/>
            <a:ext cx="2615184" cy="3511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Instances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7872" y="1600200"/>
            <a:ext cx="2615184" cy="11704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547872" y="1746504"/>
            <a:ext cx="26151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2,456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2325867"/>
            <a:ext cx="2615184" cy="3511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vCPU total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600200"/>
            <a:ext cx="2615184" cy="11704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55664" y="1746504"/>
            <a:ext cx="26151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2,920.0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325867"/>
            <a:ext cx="2615184" cy="3511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Storage (TB)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63455" y="1600200"/>
            <a:ext cx="2615184" cy="11704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63455" y="1746504"/>
            <a:ext cx="26151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210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3455" y="2325867"/>
            <a:ext cx="2615184" cy="3511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Workloads to migrate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27248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556"/>
                </a:solidFill>
                <a:latin typeface="Calibri"/>
              </a:rPr>
              <a:t>Service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9584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Commitment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39" y="3529584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3242"/>
                </a:solidFill>
                <a:latin typeface="Calibri"/>
              </a:rPr>
              <a:t>Three-year reserved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77056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Resilience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39" y="3877056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3242"/>
                </a:solidFill>
                <a:latin typeface="Calibri"/>
              </a:rPr>
              <a:t>Multi-AZ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24528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39" y="4224528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3242"/>
                </a:solidFill>
                <a:latin typeface="Calibri"/>
              </a:rPr>
              <a:t>Fully managed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Backup retention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39" y="457200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3242"/>
                </a:solidFill>
                <a:latin typeface="Calibri"/>
              </a:rPr>
              <a:t>90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19472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Migration ramp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39" y="4919472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3242"/>
                </a:solidFill>
                <a:latin typeface="Calibri"/>
              </a:rPr>
              <a:t>18 months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3127248"/>
            <a:ext cx="4983480" cy="248716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12280" y="331012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556"/>
                </a:solidFill>
                <a:latin typeface="Calibri"/>
              </a:rPr>
              <a:t>Transition effort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712463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785"/>
                </a:solidFill>
                <a:latin typeface="Calibri"/>
              </a:rPr>
              <a:t>Assess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3712463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253242"/>
                </a:solidFill>
                <a:latin typeface="Calibri"/>
              </a:rPr>
              <a:t>252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023359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785"/>
                </a:solidFill>
                <a:latin typeface="Calibri"/>
              </a:rPr>
              <a:t>Migrate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4023359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253242"/>
                </a:solidFill>
                <a:latin typeface="Calibri"/>
              </a:rPr>
              <a:t>735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334255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785"/>
                </a:solidFill>
                <a:latin typeface="Calibri"/>
              </a:rPr>
              <a:t>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4334255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253242"/>
                </a:solidFill>
                <a:latin typeface="Calibri"/>
              </a:rPr>
              <a:t>378 days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6451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785"/>
                </a:solidFill>
                <a:latin typeface="Calibri"/>
              </a:rPr>
              <a:t>Cutover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46451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253242"/>
                </a:solidFill>
                <a:latin typeface="Calibri"/>
              </a:rPr>
              <a:t>126 days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49560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785"/>
                </a:solidFill>
                <a:latin typeface="Calibri"/>
              </a:rPr>
              <a:t>Landing Zone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4956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253242"/>
                </a:solidFill>
                <a:latin typeface="Calibri"/>
              </a:rPr>
              <a:t>35 days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5376672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556"/>
                </a:solidFill>
                <a:latin typeface="Calibri"/>
              </a:rPr>
              <a:t>Total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537667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1F3556"/>
                </a:solidFill>
                <a:latin typeface="Calibri"/>
              </a:rPr>
              <a:t>1,755 days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6B7785"/>
                </a:solidFill>
                <a:latin typeface="Calibri"/>
              </a:rPr>
              <a:t>ILLUSTRATIVE MODEL — synthetic rates, not NSC pricing.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6E8E"/>
                </a:solidFill>
                <a:latin typeface="Calibri"/>
              </a:rPr>
              <a:t>RESOURCE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F3556"/>
                </a:solidFill>
                <a:latin typeface="Cambria"/>
              </a:rPr>
              <a:t>Who delivers it, and from where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783080"/>
          <a:ext cx="649224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1572768"/>
            <a:ext cx="6492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3556"/>
                </a:solidFill>
                <a:latin typeface="Calibri"/>
              </a:rPr>
              <a:t>Full-time equivalents by location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645920"/>
            <a:ext cx="4023360" cy="11887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79" y="1792224"/>
            <a:ext cx="4023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8.8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382926"/>
            <a:ext cx="402336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Total FTE in the managed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035808"/>
            <a:ext cx="4023360" cy="2542032"/>
          </a:xfrm>
          <a:prstGeom prst="roundRect">
            <a:avLst>
              <a:gd name="adj" fmla="val 6000"/>
            </a:avLst>
          </a:prstGeom>
          <a:solidFill>
            <a:srgbClr val="FDF3E4"/>
          </a:solidFill>
          <a:ln w="9525">
            <a:solidFill>
              <a:srgbClr val="C87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54112" y="321868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8791A"/>
                </a:solidFill>
                <a:latin typeface="Calibri"/>
              </a:rPr>
              <a:t>Architect's observation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2" y="3529584"/>
            <a:ext cx="3529584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53242"/>
                </a:solidFill>
                <a:latin typeface="Calibri"/>
              </a:rPr>
              <a:t>A three-year reserved commitment is the largest discount available — 41% off compute — but it is bought on day one against a 18-month migration ramp. Roughly £1,029,748 of committed compute goes unconsumed across the first three years because the workloads have not landed yet. A one-year commitment renewed as the ramp completes captures most of the discount without paying for capacity the programme cannot fill.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6B7785"/>
                </a:solidFill>
                <a:latin typeface="Calibri"/>
              </a:rPr>
              <a:t>ILLUSTRATIVE MODEL — synthetic rates, not NSC pricing.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6E8E"/>
                </a:solidFill>
                <a:latin typeface="Calibri"/>
              </a:rPr>
              <a:t>COMMERCIALS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F3556"/>
                </a:solidFill>
                <a:latin typeface="Cambria"/>
              </a:rPr>
              <a:t>What it costs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27632"/>
            <a:ext cx="3410712" cy="129844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773936"/>
            <a:ext cx="3410712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£873,684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32669"/>
            <a:ext cx="3410712" cy="3895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One-off charge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5404" y="1627632"/>
            <a:ext cx="3410712" cy="129844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75404" y="1773936"/>
            <a:ext cx="3410712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£2,386,664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5404" y="2432669"/>
            <a:ext cx="3410712" cy="3895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Annual charge (year 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0727" y="1627632"/>
            <a:ext cx="3410712" cy="1298448"/>
          </a:xfrm>
          <a:prstGeom prst="roundRect">
            <a:avLst>
              <a:gd name="adj" fmla="val 6000"/>
            </a:avLst>
          </a:prstGeom>
          <a:solidFill>
            <a:srgbClr val="FDF3E4"/>
          </a:solidFill>
          <a:ln w="9525">
            <a:solidFill>
              <a:srgbClr val="C87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10727" y="1773936"/>
            <a:ext cx="3410712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C8791A"/>
                </a:solidFill>
                <a:latin typeface="Cambria"/>
              </a:rPr>
              <a:t>£30,577,346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7" y="2432669"/>
            <a:ext cx="3410712" cy="3895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Total contract value · 5 years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40080" y="3401568"/>
          <a:ext cx="649224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" y="3200400"/>
            <a:ext cx="6492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3556"/>
                </a:solidFill>
                <a:latin typeface="Calibri"/>
              </a:rPr>
              <a:t>Recurring charge by contract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200400"/>
            <a:ext cx="4023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556"/>
                </a:solidFill>
                <a:latin typeface="Calibri"/>
              </a:rPr>
              <a:t>Annual cost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566160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Compute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566160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£524,969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831335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3831335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£358,150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096511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Network egress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4096511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£14,196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361688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Backup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4361688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£168,289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626864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Monitoring and tooling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4626864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£33,306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892040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Managed service labour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4892040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£669,612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5157216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Delivery overhead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5157216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£159,167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5422392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Contingency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5422392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£77,108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579729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556"/>
                </a:solidFill>
                <a:latin typeface="Calibri"/>
              </a:rPr>
              <a:t>Per vCPU per month at steady state: £224.32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6B7785"/>
                </a:solidFill>
                <a:latin typeface="Calibri"/>
              </a:rPr>
              <a:t>ILLUSTRATIVE MODEL — synthetic rates, not NSC pricing.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6E8E"/>
                </a:solidFill>
                <a:latin typeface="Calibri"/>
              </a:rPr>
              <a:t>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F3556"/>
                </a:solidFill>
                <a:latin typeface="Cambria"/>
              </a:rPr>
              <a:t>What we know, and what we need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49240" cy="3977639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47088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556"/>
                </a:solidFill>
                <a:latin typeface="Calibri"/>
              </a:rPr>
              <a:t>Taken from the RFP  ·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31136"/>
            <a:ext cx="4800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term years — 5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instances.small — 240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instances.medium — 180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instances.large — 95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instances.xlarge — 28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instances.gpu — 6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storage tb — performance 180.0, standard 640.0, archiv…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workloads — 210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349240" cy="3977639"/>
          </a:xfrm>
          <a:prstGeom prst="roundRect">
            <a:avLst>
              <a:gd name="adj" fmla="val 6000"/>
            </a:avLst>
          </a:prstGeom>
          <a:solidFill>
            <a:srgbClr val="FDF3E4"/>
          </a:solidFill>
          <a:ln w="9525">
            <a:solidFill>
              <a:srgbClr val="C87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37960" y="1847088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791A"/>
                </a:solidFill>
                <a:latin typeface="Calibri"/>
              </a:rPr>
              <a:t>Requires confirmation  · 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31136"/>
            <a:ext cx="4800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margin pct — 16.0%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contingency pct — 4.0%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indexation pct — 2.0%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6B7785"/>
                </a:solidFill>
                <a:latin typeface="Calibri"/>
              </a:rPr>
              <a:t>ILLUSTRATIVE MODEL — synthetic rates, not NSC pricing.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