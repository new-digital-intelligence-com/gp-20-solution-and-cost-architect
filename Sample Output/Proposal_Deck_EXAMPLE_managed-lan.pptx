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2E6E8E"/>
            </a:solidFill>
          </c:spPr>
          <c:cat>
            <c:strRef>
              <c:f>Sheet1!$A$2:$A$6</c:f>
              <c:strCache>
                <c:ptCount val="5"/>
                <c:pt idx="0">
                  <c:v>UK</c:v>
                </c:pt>
                <c:pt idx="1">
                  <c:v>DE</c:v>
                </c:pt>
                <c:pt idx="2">
                  <c:v>FR</c:v>
                </c:pt>
                <c:pt idx="3">
                  <c:v>NL</c:v>
                </c:pt>
                <c:pt idx="4">
                  <c:v>PL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7.89</c:v>
                </c:pt>
                <c:pt idx="1">
                  <c:v>4.8</c:v>
                </c:pt>
                <c:pt idx="2">
                  <c:v>4.8</c:v>
                </c:pt>
                <c:pt idx="3">
                  <c:v>4.8</c:v>
                </c:pt>
                <c:pt idx="4">
                  <c:v>8.69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5324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charge</c:v>
                </c:pt>
              </c:strCache>
            </c:strRef>
          </c:tx>
          <c:spPr>
            <a:solidFill>
              <a:srgbClr val="1F3556"/>
            </a:solidFill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4871464</c:v>
                </c:pt>
                <c:pt idx="1">
                  <c:v>5017608</c:v>
                </c:pt>
                <c:pt idx="2">
                  <c:v>5168136</c:v>
                </c:pt>
                <c:pt idx="3">
                  <c:v>5323180</c:v>
                </c:pt>
                <c:pt idx="4">
                  <c:v>5482875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numFmt formatCode="&quot;£&quot;#,##0,,&quot;M&quot;" sourceLinked="0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stating this is an illustrative model on synthetic rates. The point is the workflow from RFP to costed solution, not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to linger on. The observation is what separates an architect from a calculator — offer the sensitivity run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Nothing in the price is unattributed — every figure traces to the RFP, to a decision the user made, or to a flagged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B3C9"/>
                </a:solidFill>
                <a:latin typeface="Calibri"/>
              </a:rPr>
              <a:t>SOLUTION &amp;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Aurelian Global Holdings plc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8168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BD9E4"/>
                </a:solidFill>
                <a:latin typeface="Calibri"/>
              </a:rPr>
              <a:t>Managed LAN / WLAN with field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RFP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AG/2026/NET/114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CONTRACT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5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LOCATIONS IN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39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TOTAL CONTRACT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£28,008,002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E9DB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SOLUTION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would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Locations in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47872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1,325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Wireless access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329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Access switches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5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63455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14,330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5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End users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Service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Service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Gold — 4 business hours on-site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Coverage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24x7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Spares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Survey approach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Deployment duration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9 months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127248"/>
            <a:ext cx="4983480" cy="248716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12280" y="331012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Transition effort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712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Survey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7124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46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0233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402335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426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33425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334255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27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645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6451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75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065776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556"/>
                </a:solidFill>
                <a:latin typeface="Calibri"/>
              </a:rPr>
              <a:t>Total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5065776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F3556"/>
                </a:solidFill>
                <a:latin typeface="Calibri"/>
              </a:rPr>
              <a:t>575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RESOURCE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Who delivers it, and from where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83080"/>
          <a:ext cx="6492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572768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Full-time equivalents by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79" y="1792224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31.0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82926"/>
            <a:ext cx="402336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FTE in the managed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035808"/>
            <a:ext cx="4023360" cy="2542032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54112" y="32186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791A"/>
                </a:solidFill>
                <a:latin typeface="Calibri"/>
              </a:rPr>
              <a:t>Architect's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3529584"/>
            <a:ext cx="352958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53242"/>
                </a:solidFill>
                <a:latin typeface="Calibri"/>
              </a:rPr>
              <a:t>UK, DE, FR, NL, PL are sized by the SLA coverage floor, not incident volume — 18.0 FTE of standing presence exceeds the actual workload of 605 incidents a year. A regional pooling model, or a relaxed tier in the low-density countries, would reduce cost without breaching the committed response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it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£2,144,739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One-off charge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404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75404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£4,871,464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5404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Annual charge (year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0727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10727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C8791A"/>
                </a:solidFill>
                <a:latin typeface="Cambria"/>
              </a:rPr>
              <a:t>£28,008,002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contract value · 5 years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3401568"/>
          <a:ext cx="64922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3200400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Recurring charge by contract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200400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Annual cost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Labour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56616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£3,142,410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4962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Travel and subsistence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849624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£37,605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13308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Spares and logistics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133087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£54,786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1655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Tooling and consumables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416552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£2,399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70001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Delivery overhead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700016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£381,602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98348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Contingency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98348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£180,940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376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556"/>
                </a:solidFill>
                <a:latin typeface="Calibri"/>
              </a:rPr>
              <a:t>Per site per month: £4,019.36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know, and what we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Taken from the RFP  ·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term years — 5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rollout months — 9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sites.small — 62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sites.medium — 28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sites.large — 9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sites.campus — 2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user count — 14330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country mix — UK 45%, DE 25%, FR 15%, NL 11%, PL 5%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sla tier — gold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791A"/>
                </a:solidFill>
                <a:latin typeface="Calibri"/>
              </a:rPr>
              <a:t>Requires confirmation  · 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aps per site — small 4, medium 14, large 45, campus 140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reuse cabling — True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monitoring — True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service desk — True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margin pct — 22.0%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contingency pct — 5.0%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indexation pct — 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