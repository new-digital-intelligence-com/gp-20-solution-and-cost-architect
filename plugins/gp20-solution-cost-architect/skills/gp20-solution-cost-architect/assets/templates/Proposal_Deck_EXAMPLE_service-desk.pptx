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FTE</c:v>
                </c:pt>
              </c:strCache>
            </c:strRef>
          </c:tx>
          <c:spPr>
            <a:solidFill>
              <a:srgbClr val="2E6E8E"/>
            </a:solidFill>
          </c:spPr>
          <c:cat>
            <c:strRef>
              <c:f>Sheet1!$A$2:$A$2</c:f>
              <c:strCache>
                <c:ptCount val="1"/>
                <c:pt idx="0">
                  <c:v>PL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38.6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53242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charge</c:v>
                </c:pt>
              </c:strCache>
            </c:strRef>
          </c:tx>
          <c:spPr>
            <a:solidFill>
              <a:srgbClr val="1F3556"/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3005485</c:v>
                </c:pt>
                <c:pt idx="1">
                  <c:v>3095649</c:v>
                </c:pt>
                <c:pt idx="2">
                  <c:v>3188519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253242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E4EAF0"/>
              </a:solidFill>
            </a:ln>
          </c:spPr>
        </c:majorGridlines>
        <c:numFmt formatCode="&quot;£&quot;#,##0,,&quot;M&quot;" sourceLinked="0"/>
        <c:majorTickMark val="none"/>
        <c:minorTickMark val="none"/>
        <c:tickLblPos val="nextTo"/>
        <c:spPr>
          <a:ln>
            <a:solidFill>
              <a:srgbClr val="E4EAF0"/>
            </a:solidFill>
          </a:ln>
        </c:spPr>
        <c:txPr>
          <a:bodyPr/>
          <a:lstStyle/>
          <a:p>
            <a:pPr>
              <a:defRPr sz="1050">
                <a:solidFill>
                  <a:srgbClr val="6B7785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stating this is an illustrative model on synthetic rates. The point is the workflow from RFP to costed solution, not the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slide to linger on. The observation is what separates an architect from a calculator — offer the sensitivity run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here. Nothing in the price is unattributed — every figure traces to the RFP, to a decision the user made, or to a flagged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5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8FB3C9"/>
                </a:solidFill>
                <a:latin typeface="Calibri"/>
              </a:rPr>
              <a:t>SOLUTION &amp; COST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1091153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mbria"/>
              </a:rPr>
              <a:t>Aurelian Global Holdings plc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81683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CBD9E4"/>
                </a:solidFill>
                <a:latin typeface="Calibri"/>
              </a:rPr>
              <a:t>Service Desk and Remote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RFP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AG/2026/SD/311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CONTRACT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3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USERS SUPPORTED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14,330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39" y="4480560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7E9DB5"/>
                </a:solidFill>
                <a:latin typeface="Calibri"/>
              </a:rPr>
              <a:t>TOTAL CONTRACT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6839" y="4718304"/>
            <a:ext cx="2651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mbria"/>
              </a:rPr>
              <a:t>£9,384,341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1">
                <a:solidFill>
                  <a:srgbClr val="7E9DB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SOLUTION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would build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14,330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Users supported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47872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3547872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94,131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Contacts per annum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55664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55664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Languages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63455" y="1600200"/>
            <a:ext cx="2615184" cy="1170432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63455" y="1746504"/>
            <a:ext cx="2615184" cy="5852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34.8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63455" y="2325867"/>
            <a:ext cx="2615184" cy="35112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27248"/>
            <a:ext cx="5120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Service commitment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Coverage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352958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24×7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Languages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39" y="3877056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EN, DE, FR, NL, PL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Tiers in scope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39" y="4224528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First and second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Self-service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39" y="4572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Knowledge 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First-contact resolution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39" y="4919472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75%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6694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B7785"/>
                </a:solidFill>
                <a:latin typeface="Calibri"/>
              </a:rPr>
              <a:t>Onboarding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39" y="5266944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53242"/>
                </a:solidFill>
                <a:latin typeface="Calibri"/>
              </a:rPr>
              <a:t>3 months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37960" y="3127248"/>
            <a:ext cx="4983480" cy="248716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12280" y="3310128"/>
            <a:ext cx="4480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Transition effort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3712463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Knowledge Capture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3712463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22 days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402335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Runbook Build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023359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30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334255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Agent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21240" y="4334255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127 days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4645152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Parallel Run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464515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60 days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495604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7785"/>
                </a:solidFill>
                <a:latin typeface="Calibri"/>
              </a:rPr>
              <a:t>Project Management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495604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50" b="1" i="0">
                <a:solidFill>
                  <a:srgbClr val="253242"/>
                </a:solidFill>
                <a:latin typeface="Calibri"/>
              </a:rPr>
              <a:t>38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5376672"/>
            <a:ext cx="3108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1F3556"/>
                </a:solidFill>
                <a:latin typeface="Calibri"/>
              </a:rPr>
              <a:t>Total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5376672"/>
            <a:ext cx="1371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50" b="1" i="0">
                <a:solidFill>
                  <a:srgbClr val="1F3556"/>
                </a:solidFill>
                <a:latin typeface="Calibri"/>
              </a:rPr>
              <a:t>278 days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RESOURCE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Who delivers it, and from where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783080"/>
          <a:ext cx="6492240" cy="3794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1572768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Full-time equivalents by location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645920"/>
            <a:ext cx="4023360" cy="1188720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498079" y="1792224"/>
            <a:ext cx="40233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38.6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382926"/>
            <a:ext cx="4023360" cy="3566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FTE in the managed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035808"/>
            <a:ext cx="4023360" cy="2542032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54112" y="321868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8791A"/>
                </a:solidFill>
                <a:latin typeface="Calibri"/>
              </a:rPr>
              <a:t>Architect's observation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54112" y="3529584"/>
            <a:ext cx="3529584" cy="1874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253242"/>
                </a:solidFill>
                <a:latin typeface="Calibri"/>
              </a:rPr>
              <a:t>EN, DE, FR, NL, PL are sized by the language coverage floor, not contact volume — 5.8 FTE of standing language capability exceeds the 94,131 contacts a year the desk actually handles. At 24×7 each language costs 4.80 FTE whether or not anyone calls in it. Consolidating the low-volume languages to English with a translation layer, or narrowing their coverage window, would cut cost without reducing the service the majority receives.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COMMERCIALS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it costs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40080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£94,688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One-off charge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404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375404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1F3556"/>
                </a:solidFill>
                <a:latin typeface="Cambria"/>
              </a:rPr>
              <a:t>£3,005,485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5404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Annual charge (year 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0727" y="1627632"/>
            <a:ext cx="3410712" cy="1298448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110727" y="1773936"/>
            <a:ext cx="3410712" cy="6492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900" b="1" i="0">
                <a:solidFill>
                  <a:srgbClr val="C8791A"/>
                </a:solidFill>
                <a:latin typeface="Cambria"/>
              </a:rPr>
              <a:t>£9,384,341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10727" y="2432669"/>
            <a:ext cx="3410712" cy="3895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6B7785"/>
                </a:solidFill>
                <a:latin typeface="Calibri"/>
              </a:rPr>
              <a:t>Total contract value · 3 years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0080" y="3401568"/>
          <a:ext cx="6492240" cy="2194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40080" y="3200400"/>
            <a:ext cx="64922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1F3556"/>
                </a:solidFill>
                <a:latin typeface="Calibri"/>
              </a:rPr>
              <a:t>Recurring charge by contract year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200400"/>
            <a:ext cx="4023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Annual cost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56616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Labour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356616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£1,854,076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849624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ITSM tooling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849624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£40,020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133087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Telephony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4133087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£22,272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4416552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Self-service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4416552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£18,000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79" y="4700016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Delivery overhead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700016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£241,030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79" y="4983480"/>
            <a:ext cx="228600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6B7785"/>
                </a:solidFill>
                <a:latin typeface="Calibri"/>
              </a:rPr>
              <a:t>Contingency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4983480"/>
            <a:ext cx="1737360" cy="2468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253242"/>
                </a:solidFill>
                <a:latin typeface="Calibri"/>
              </a:rPr>
              <a:t>£108,770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53766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F3556"/>
                </a:solidFill>
                <a:latin typeface="Calibri"/>
              </a:rPr>
              <a:t>Per user per month: £17.48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E6E8E"/>
                </a:solidFill>
                <a:latin typeface="Calibri"/>
              </a:rPr>
              <a:t>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21792"/>
            <a:ext cx="1091153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1F3556"/>
                </a:solidFill>
                <a:latin typeface="Cambria"/>
              </a:rPr>
              <a:t>What we know, and what we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2F5F8"/>
          </a:solidFill>
          <a:ln w="9525">
            <a:solidFill>
              <a:srgbClr val="DC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F3556"/>
                </a:solidFill>
                <a:latin typeface="Calibri"/>
              </a:rPr>
              <a:t>Taken from the RFP  ·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term years — 3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user count — 14330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device count — 16950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languages — EN,DE,FR,NL,PL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45920"/>
            <a:ext cx="5349240" cy="3977639"/>
          </a:xfrm>
          <a:prstGeom prst="roundRect">
            <a:avLst>
              <a:gd name="adj" fmla="val 6000"/>
            </a:avLst>
          </a:prstGeom>
          <a:solidFill>
            <a:srgbClr val="FDF3E4"/>
          </a:solidFill>
          <a:ln w="9525">
            <a:solidFill>
              <a:srgbClr val="C879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537960" y="1847088"/>
            <a:ext cx="4800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8791A"/>
                </a:solidFill>
                <a:latin typeface="Calibri"/>
              </a:rPr>
              <a:t>Requires confirmation  · 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31136"/>
            <a:ext cx="480060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channel mix — phone 42%, email 24%, chat 18%, portal 14…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margin pct — 24.0%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contingency pct — 5.0%</a:t>
            </a:r>
          </a:p>
          <a:p>
            <a:pPr algn="l">
              <a:spcAft>
                <a:spcPts val="500"/>
              </a:spcAft>
            </a:pPr>
            <a:r>
              <a:rPr sz="1150" b="0" i="0">
                <a:solidFill>
                  <a:srgbClr val="253242"/>
                </a:solidFill>
                <a:latin typeface="Calibri"/>
              </a:rPr>
              <a:t>•  indexation pct — 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1">
                <a:solidFill>
                  <a:srgbClr val="6B7785"/>
                </a:solidFill>
                <a:latin typeface="Calibri"/>
              </a:rPr>
              <a:t>ILLUSTRATIVE MODEL — synthetic rates, not NSC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