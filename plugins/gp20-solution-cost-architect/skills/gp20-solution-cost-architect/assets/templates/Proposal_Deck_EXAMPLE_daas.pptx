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FTE</c:v>
                </c:pt>
              </c:strCache>
            </c:strRef>
          </c:tx>
          <c:spPr>
            <a:solidFill>
              <a:srgbClr val="2E6E8E"/>
            </a:solidFill>
          </c:spPr>
          <c:cat>
            <c:strRef>
              <c:f>Sheet1!$A$2:$A$6</c:f>
              <c:strCache>
                <c:ptCount val="5"/>
                <c:pt idx="0">
                  <c:v>UK</c:v>
                </c:pt>
                <c:pt idx="1">
                  <c:v>DE</c:v>
                </c:pt>
                <c:pt idx="2">
                  <c:v>FR</c:v>
                </c:pt>
                <c:pt idx="3">
                  <c:v>NL</c:v>
                </c:pt>
                <c:pt idx="4">
                  <c:v>PL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1.27</c:v>
                </c:pt>
                <c:pt idx="1">
                  <c:v>0.43</c:v>
                </c:pt>
                <c:pt idx="2">
                  <c:v>0.26</c:v>
                </c:pt>
                <c:pt idx="3">
                  <c:v>0.17</c:v>
                </c:pt>
                <c:pt idx="4">
                  <c:v>4.64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solidFill>
                    <a:srgbClr val="253242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4EAF0"/>
            </a:solidFill>
          </a:ln>
        </c:spPr>
        <c:txPr>
          <a:bodyPr/>
          <a:lstStyle/>
          <a:p>
            <a:pPr>
              <a:defRPr sz="1050">
                <a:solidFill>
                  <a:srgbClr val="25324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E4EAF0"/>
              </a:solidFill>
            </a:ln>
          </c:spPr>
        </c:majorGridlines>
        <c:majorTickMark val="none"/>
        <c:minorTickMark val="none"/>
        <c:tickLblPos val="nextTo"/>
        <c:spPr>
          <a:ln>
            <a:solidFill>
              <a:srgbClr val="E4EAF0"/>
            </a:solidFill>
          </a:ln>
        </c:spPr>
        <c:txPr>
          <a:bodyPr/>
          <a:lstStyle/>
          <a:p>
            <a:pPr>
              <a:defRPr sz="1050">
                <a:solidFill>
                  <a:srgbClr val="6B7785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charge</c:v>
                </c:pt>
              </c:strCache>
            </c:strRef>
          </c:tx>
          <c:spPr>
            <a:solidFill>
              <a:srgbClr val="1F3556"/>
            </a:solidFill>
          </c:spPr>
          <c:cat>
            <c:strRef>
              <c:f>Sheet1!$A$2:$A$5</c:f>
              <c:strCache>
                <c:ptCount val="4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6855745</c:v>
                </c:pt>
                <c:pt idx="1">
                  <c:v>7061417</c:v>
                </c:pt>
                <c:pt idx="2">
                  <c:v>7273260</c:v>
                </c:pt>
                <c:pt idx="3">
                  <c:v>7491457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4EAF0"/>
            </a:solidFill>
          </a:ln>
        </c:spPr>
        <c:txPr>
          <a:bodyPr/>
          <a:lstStyle/>
          <a:p>
            <a:pPr>
              <a:defRPr sz="1050">
                <a:solidFill>
                  <a:srgbClr val="25324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E4EAF0"/>
              </a:solidFill>
            </a:ln>
          </c:spPr>
        </c:majorGridlines>
        <c:numFmt formatCode="&quot;£&quot;#,##0,,&quot;M&quot;" sourceLinked="0"/>
        <c:majorTickMark val="none"/>
        <c:minorTickMark val="none"/>
        <c:tickLblPos val="nextTo"/>
        <c:spPr>
          <a:ln>
            <a:solidFill>
              <a:srgbClr val="E4EAF0"/>
            </a:solidFill>
          </a:ln>
        </c:spPr>
        <c:txPr>
          <a:bodyPr/>
          <a:lstStyle/>
          <a:p>
            <a:pPr>
              <a:defRPr sz="1050">
                <a:solidFill>
                  <a:srgbClr val="6B7785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stating this is an illustrative model on synthetic rates. The point is the workflow from RFP to costed solution, not the price.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slide to linger on. The observation is what separates an architect from a calculator — offer the sensitivity run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here. Nothing in the price is unattributed — every figure traces to the RFP, to a decision the user made, or to a flagged default.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FB3C9"/>
                </a:solidFill>
                <a:latin typeface="Calibri"/>
              </a:rPr>
              <a:t>SOLUTION &amp; COST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Aurelian Global Holdings plc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0"/>
            <a:ext cx="81683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CBD9E4"/>
                </a:solidFill>
                <a:latin typeface="Calibri"/>
              </a:rPr>
              <a:t>Device as a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480560"/>
            <a:ext cx="2651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E9DB5"/>
                </a:solidFill>
                <a:latin typeface="Calibri"/>
              </a:rPr>
              <a:t>RFP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18304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mbria"/>
              </a:rPr>
              <a:t>AG/2026/EUC/207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4480560"/>
            <a:ext cx="2651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E9DB5"/>
                </a:solidFill>
                <a:latin typeface="Calibri"/>
              </a:rPr>
              <a:t>CONTRACT TERM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4718304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mbria"/>
              </a:rPr>
              <a:t>4 years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480560"/>
            <a:ext cx="2651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E9DB5"/>
                </a:solidFill>
                <a:latin typeface="Calibri"/>
              </a:rPr>
              <a:t>DEVICES IN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718304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mbria"/>
              </a:rPr>
              <a:t>16,950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6839" y="4480560"/>
            <a:ext cx="2651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E9DB5"/>
                </a:solidFill>
                <a:latin typeface="Calibri"/>
              </a:rPr>
              <a:t>TOTAL CONTRACT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39" y="4718304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mbria"/>
              </a:rPr>
              <a:t>£31,076,675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26364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E9DB5"/>
                </a:solidFill>
                <a:latin typeface="Calibri"/>
              </a:rPr>
              <a:t>ILLUSTRATIVE MODEL — synthetic rates, not NSC pricing.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E6E8E"/>
                </a:solidFill>
                <a:latin typeface="Calibri"/>
              </a:rPr>
              <a:t>SOLUTION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1153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1F3556"/>
                </a:solidFill>
                <a:latin typeface="Cambria"/>
              </a:rPr>
              <a:t>What we would build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2615184" cy="11704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1746504"/>
            <a:ext cx="2615184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900" b="1" i="0">
                <a:solidFill>
                  <a:srgbClr val="1F3556"/>
                </a:solidFill>
                <a:latin typeface="Cambria"/>
              </a:rPr>
              <a:t>16,950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25867"/>
            <a:ext cx="2615184" cy="3511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B7785"/>
                </a:solidFill>
                <a:latin typeface="Calibri"/>
              </a:rPr>
              <a:t>Devices in scope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47872" y="1600200"/>
            <a:ext cx="2615184" cy="11704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547872" y="1746504"/>
            <a:ext cx="2615184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900" b="1" i="0">
                <a:solidFill>
                  <a:srgbClr val="1F3556"/>
                </a:solidFill>
                <a:latin typeface="Cambria"/>
              </a:rPr>
              <a:t>14,330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2325867"/>
            <a:ext cx="2615184" cy="3511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B7785"/>
                </a:solidFill>
                <a:latin typeface="Calibri"/>
              </a:rPr>
              <a:t>Users supported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55664" y="1600200"/>
            <a:ext cx="2615184" cy="11704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55664" y="1746504"/>
            <a:ext cx="2615184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900" b="1" i="0">
                <a:solidFill>
                  <a:srgbClr val="1F3556"/>
                </a:solidFill>
                <a:latin typeface="Cambria"/>
              </a:rPr>
              <a:t>9,800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2325867"/>
            <a:ext cx="2615184" cy="3511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B7785"/>
                </a:solidFill>
                <a:latin typeface="Calibri"/>
              </a:rPr>
              <a:t>Standard laptop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63455" y="1600200"/>
            <a:ext cx="2615184" cy="11704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63455" y="1746504"/>
            <a:ext cx="2615184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900" b="1" i="0">
                <a:solidFill>
                  <a:srgbClr val="1F3556"/>
                </a:solidFill>
                <a:latin typeface="Cambria"/>
              </a:rPr>
              <a:t>1,400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63455" y="2325867"/>
            <a:ext cx="2615184" cy="3511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B7785"/>
                </a:solidFill>
                <a:latin typeface="Calibri"/>
              </a:rPr>
              <a:t>Performance laptop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127248"/>
            <a:ext cx="5120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3556"/>
                </a:solidFill>
                <a:latin typeface="Calibri"/>
              </a:rPr>
              <a:t>Service commitment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29584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785"/>
                </a:solidFill>
                <a:latin typeface="Calibri"/>
              </a:rPr>
              <a:t>Break-fix commitment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39" y="3529584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53242"/>
                </a:solidFill>
                <a:latin typeface="Calibri"/>
              </a:rPr>
              <a:t>8 business hour swap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77056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785"/>
                </a:solidFill>
                <a:latin typeface="Calibri"/>
              </a:rPr>
              <a:t>Refresh cycle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39" y="3877056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53242"/>
                </a:solidFill>
                <a:latin typeface="Calibri"/>
              </a:rPr>
              <a:t>4 years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24528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785"/>
                </a:solidFill>
                <a:latin typeface="Calibri"/>
              </a:rPr>
              <a:t>Deployment method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39" y="4224528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53242"/>
                </a:solidFill>
                <a:latin typeface="Calibri"/>
              </a:rPr>
              <a:t>Ship To User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57200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785"/>
                </a:solidFill>
                <a:latin typeface="Calibri"/>
              </a:rPr>
              <a:t>Image 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39" y="457200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53242"/>
                </a:solidFill>
                <a:latin typeface="Calibri"/>
              </a:rPr>
              <a:t>Custom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919472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785"/>
                </a:solidFill>
                <a:latin typeface="Calibri"/>
              </a:rPr>
              <a:t>Accessories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39" y="4919472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53242"/>
                </a:solidFill>
                <a:latin typeface="Calibri"/>
              </a:rPr>
              <a:t>Standard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266944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785"/>
                </a:solidFill>
                <a:latin typeface="Calibri"/>
              </a:rPr>
              <a:t>End-of-life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39" y="5266944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53242"/>
                </a:solidFill>
                <a:latin typeface="Calibri"/>
              </a:rPr>
              <a:t>Buyback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37960" y="3127248"/>
            <a:ext cx="4983480" cy="2487168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812280" y="3310128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3556"/>
                </a:solidFill>
                <a:latin typeface="Calibri"/>
              </a:rPr>
              <a:t>Transition effort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3712463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785"/>
                </a:solidFill>
                <a:latin typeface="Calibri"/>
              </a:rPr>
              <a:t>Image Build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1240" y="3712463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253242"/>
                </a:solidFill>
                <a:latin typeface="Calibri"/>
              </a:rPr>
              <a:t>36 days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4023359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785"/>
                </a:solidFill>
                <a:latin typeface="Calibri"/>
              </a:rPr>
              <a:t>Enrolment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1240" y="4023359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253242"/>
                </a:solidFill>
                <a:latin typeface="Calibri"/>
              </a:rPr>
              <a:t>678 days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4334255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785"/>
                </a:solidFill>
                <a:latin typeface="Calibri"/>
              </a:rPr>
              <a:t>Deployment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1240" y="4334255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253242"/>
                </a:solidFill>
                <a:latin typeface="Calibri"/>
              </a:rPr>
              <a:t>452 days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46451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785"/>
                </a:solidFill>
                <a:latin typeface="Calibri"/>
              </a:rPr>
              <a:t>Data Migration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21240" y="46451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253242"/>
                </a:solidFill>
                <a:latin typeface="Calibri"/>
              </a:rPr>
              <a:t>1,115 days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495604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785"/>
                </a:solidFill>
                <a:latin typeface="Calibri"/>
              </a:rPr>
              <a:t>Project Management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21240" y="495604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253242"/>
                </a:solidFill>
                <a:latin typeface="Calibri"/>
              </a:rPr>
              <a:t>319 days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2280" y="5376672"/>
            <a:ext cx="3108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556"/>
                </a:solidFill>
                <a:latin typeface="Calibri"/>
              </a:rPr>
              <a:t>Total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21240" y="537667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1F3556"/>
                </a:solidFill>
                <a:latin typeface="Calibri"/>
              </a:rPr>
              <a:t>2,600 days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400800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6B7785"/>
                </a:solidFill>
                <a:latin typeface="Calibri"/>
              </a:rPr>
              <a:t>ILLUSTRATIVE MODEL — synthetic rates, not NSC pricing.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E6E8E"/>
                </a:solidFill>
                <a:latin typeface="Calibri"/>
              </a:rPr>
              <a:t>RESOURCE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1153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1F3556"/>
                </a:solidFill>
                <a:latin typeface="Cambria"/>
              </a:rPr>
              <a:t>Who delivers it, and from where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783080"/>
          <a:ext cx="649224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1572768"/>
            <a:ext cx="6492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F3556"/>
                </a:solidFill>
                <a:latin typeface="Calibri"/>
              </a:rPr>
              <a:t>Full-time equivalents by location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645920"/>
            <a:ext cx="4023360" cy="118872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498079" y="1792224"/>
            <a:ext cx="40233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900" b="1" i="0">
                <a:solidFill>
                  <a:srgbClr val="1F3556"/>
                </a:solidFill>
                <a:latin typeface="Cambria"/>
              </a:rPr>
              <a:t>6.8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382926"/>
            <a:ext cx="4023360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B7785"/>
                </a:solidFill>
                <a:latin typeface="Calibri"/>
              </a:rPr>
              <a:t>Total FTE in the managed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3035808"/>
            <a:ext cx="4023360" cy="2542032"/>
          </a:xfrm>
          <a:prstGeom prst="roundRect">
            <a:avLst>
              <a:gd name="adj" fmla="val 6000"/>
            </a:avLst>
          </a:prstGeom>
          <a:solidFill>
            <a:srgbClr val="FDF3E4"/>
          </a:solidFill>
          <a:ln w="9525">
            <a:solidFill>
              <a:srgbClr val="C879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54112" y="321868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8791A"/>
                </a:solidFill>
                <a:latin typeface="Calibri"/>
              </a:rPr>
              <a:t>Architect's observation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54112" y="3529584"/>
            <a:ext cx="3529584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53242"/>
                </a:solidFill>
                <a:latin typeface="Calibri"/>
              </a:rPr>
              <a:t>Hardware amortisation is 67% of the annual cost — this is a capital-shaped deal, not a labour-shaped one. Moving the refresh from 4 to 5 years would cut the device line by roughly 20% of its current value, at the cost of higher break-fix volume in the final year. Labour is only 8% of the total, so squeezing the service model cannot move this price much.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6B7785"/>
                </a:solidFill>
                <a:latin typeface="Calibri"/>
              </a:rPr>
              <a:t>ILLUSTRATIVE MODEL — synthetic rates, not NSC pricing.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E6E8E"/>
                </a:solidFill>
                <a:latin typeface="Calibri"/>
              </a:rPr>
              <a:t>COMMERCIALS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1153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1F3556"/>
                </a:solidFill>
                <a:latin typeface="Cambria"/>
              </a:rPr>
              <a:t>What it costs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27632"/>
            <a:ext cx="3410712" cy="1298448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1773936"/>
            <a:ext cx="3410712" cy="649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900" b="1" i="0">
                <a:solidFill>
                  <a:srgbClr val="1F3556"/>
                </a:solidFill>
                <a:latin typeface="Cambria"/>
              </a:rPr>
              <a:t>£2,394,796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32669"/>
            <a:ext cx="3410712" cy="3895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B7785"/>
                </a:solidFill>
                <a:latin typeface="Calibri"/>
              </a:rPr>
              <a:t>One-off charge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5404" y="1627632"/>
            <a:ext cx="3410712" cy="1298448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375404" y="1773936"/>
            <a:ext cx="3410712" cy="649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900" b="1" i="0">
                <a:solidFill>
                  <a:srgbClr val="1F3556"/>
                </a:solidFill>
                <a:latin typeface="Cambria"/>
              </a:rPr>
              <a:t>£6,855,745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5404" y="2432669"/>
            <a:ext cx="3410712" cy="3895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B7785"/>
                </a:solidFill>
                <a:latin typeface="Calibri"/>
              </a:rPr>
              <a:t>Annual charge (year 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0727" y="1627632"/>
            <a:ext cx="3410712" cy="1298448"/>
          </a:xfrm>
          <a:prstGeom prst="roundRect">
            <a:avLst>
              <a:gd name="adj" fmla="val 6000"/>
            </a:avLst>
          </a:prstGeom>
          <a:solidFill>
            <a:srgbClr val="FDF3E4"/>
          </a:solidFill>
          <a:ln w="9525">
            <a:solidFill>
              <a:srgbClr val="C879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110727" y="1773936"/>
            <a:ext cx="3410712" cy="649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900" b="1" i="0">
                <a:solidFill>
                  <a:srgbClr val="C8791A"/>
                </a:solidFill>
                <a:latin typeface="Cambria"/>
              </a:rPr>
              <a:t>£31,076,675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0727" y="2432669"/>
            <a:ext cx="3410712" cy="3895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B7785"/>
                </a:solidFill>
                <a:latin typeface="Calibri"/>
              </a:rPr>
              <a:t>Total contract value · 4 years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40080" y="3401568"/>
          <a:ext cx="6492240" cy="2194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40080" y="3200400"/>
            <a:ext cx="6492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F3556"/>
                </a:solidFill>
                <a:latin typeface="Calibri"/>
              </a:rPr>
              <a:t>Recurring charge by contract year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3200400"/>
            <a:ext cx="4023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3556"/>
                </a:solidFill>
                <a:latin typeface="Calibri"/>
              </a:rPr>
              <a:t>Annual cost 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566160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785"/>
                </a:solidFill>
                <a:latin typeface="Calibri"/>
              </a:rPr>
              <a:t>Device amortisation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3566160"/>
            <a:ext cx="17373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253242"/>
                </a:solidFill>
                <a:latin typeface="Calibri"/>
              </a:rPr>
              <a:t>£3,748,250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3831335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785"/>
                </a:solidFill>
                <a:latin typeface="Calibri"/>
              </a:rPr>
              <a:t>Accessory amortisation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3831335"/>
            <a:ext cx="17373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253242"/>
                </a:solidFill>
                <a:latin typeface="Calibri"/>
              </a:rPr>
              <a:t>£644,100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4096511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785"/>
                </a:solidFill>
                <a:latin typeface="Calibri"/>
              </a:rPr>
              <a:t>Spare pool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4096511"/>
            <a:ext cx="17373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253242"/>
                </a:solidFill>
                <a:latin typeface="Calibri"/>
              </a:rPr>
              <a:t>£149,930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4361688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785"/>
                </a:solidFill>
                <a:latin typeface="Calibri"/>
              </a:rPr>
              <a:t>Break-fix logistics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4361688"/>
            <a:ext cx="17373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253242"/>
                </a:solidFill>
                <a:latin typeface="Calibri"/>
              </a:rPr>
              <a:t>£67,461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4626864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785"/>
                </a:solidFill>
                <a:latin typeface="Calibri"/>
              </a:rPr>
              <a:t>Labour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4626864"/>
            <a:ext cx="17373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253242"/>
                </a:solidFill>
                <a:latin typeface="Calibri"/>
              </a:rPr>
              <a:t>£421,907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4892040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785"/>
                </a:solidFill>
                <a:latin typeface="Calibri"/>
              </a:rPr>
              <a:t>Software and MDM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4892040"/>
            <a:ext cx="17373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253242"/>
                </a:solidFill>
                <a:latin typeface="Calibri"/>
              </a:rPr>
              <a:t>£711,900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5157216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785"/>
                </a:solidFill>
                <a:latin typeface="Calibri"/>
              </a:rPr>
              <a:t>Asset management and reporting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5157216"/>
            <a:ext cx="17373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253242"/>
                </a:solidFill>
                <a:latin typeface="Calibri"/>
              </a:rPr>
              <a:t>£84,325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5422392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785"/>
                </a:solidFill>
                <a:latin typeface="Calibri"/>
              </a:rPr>
              <a:t>Delivery overhead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5422392"/>
            <a:ext cx="17373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253242"/>
                </a:solidFill>
                <a:latin typeface="Calibri"/>
              </a:rPr>
              <a:t>£53,830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5687568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785"/>
                </a:solidFill>
                <a:latin typeface="Calibri"/>
              </a:rPr>
              <a:t>Buyback credit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5687568"/>
            <a:ext cx="17373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C8791A"/>
                </a:solidFill>
                <a:latin typeface="Calibri"/>
              </a:rPr>
              <a:t>-£542,132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606247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556"/>
                </a:solidFill>
                <a:latin typeface="Calibri"/>
              </a:rPr>
              <a:t>Per device per month: £33.71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00800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6B7785"/>
                </a:solidFill>
                <a:latin typeface="Calibri"/>
              </a:rPr>
              <a:t>ILLUSTRATIVE MODEL — synthetic rates, not NSC pricing.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E6E8E"/>
                </a:solidFill>
                <a:latin typeface="Calibri"/>
              </a:rPr>
              <a:t>ASSUMPTIONS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1153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1F3556"/>
                </a:solidFill>
                <a:latin typeface="Cambria"/>
              </a:rPr>
              <a:t>What we know, and what we need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5349240" cy="3977639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847088"/>
            <a:ext cx="4800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3556"/>
                </a:solidFill>
                <a:latin typeface="Calibri"/>
              </a:rPr>
              <a:t>Taken from the RFP  ·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31136"/>
            <a:ext cx="48006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53242"/>
                </a:solidFill>
                <a:latin typeface="Calibri"/>
              </a:rPr>
              <a:t>•  term years — 4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53242"/>
                </a:solidFill>
                <a:latin typeface="Calibri"/>
              </a:rPr>
              <a:t>•  devices.laptop standard — 9800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53242"/>
                </a:solidFill>
                <a:latin typeface="Calibri"/>
              </a:rPr>
              <a:t>•  devices.laptop performance — 1400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53242"/>
                </a:solidFill>
                <a:latin typeface="Calibri"/>
              </a:rPr>
              <a:t>•  devices.desktop — 900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53242"/>
                </a:solidFill>
                <a:latin typeface="Calibri"/>
              </a:rPr>
              <a:t>•  devices.tablet — 650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53242"/>
                </a:solidFill>
                <a:latin typeface="Calibri"/>
              </a:rPr>
              <a:t>•  devices.phone — 4200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53242"/>
                </a:solidFill>
                <a:latin typeface="Calibri"/>
              </a:rPr>
              <a:t>•  user count — 14330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53242"/>
                </a:solidFill>
                <a:latin typeface="Calibri"/>
              </a:rPr>
              <a:t>•  country mix — UK 45%, DE 25%, FR 15%, NL 10%, PL 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45920"/>
            <a:ext cx="5349240" cy="3977639"/>
          </a:xfrm>
          <a:prstGeom prst="roundRect">
            <a:avLst>
              <a:gd name="adj" fmla="val 6000"/>
            </a:avLst>
          </a:prstGeom>
          <a:solidFill>
            <a:srgbClr val="FDF3E4"/>
          </a:solidFill>
          <a:ln w="9525">
            <a:solidFill>
              <a:srgbClr val="C879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37960" y="1847088"/>
            <a:ext cx="4800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8791A"/>
                </a:solidFill>
                <a:latin typeface="Calibri"/>
              </a:rPr>
              <a:t>Requires confirmation  · 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231136"/>
            <a:ext cx="48006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53242"/>
                </a:solidFill>
                <a:latin typeface="Calibri"/>
              </a:rPr>
              <a:t>•  service desk — True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53242"/>
                </a:solidFill>
                <a:latin typeface="Calibri"/>
              </a:rPr>
              <a:t>•  margin pct — 19.0%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53242"/>
                </a:solidFill>
                <a:latin typeface="Calibri"/>
              </a:rPr>
              <a:t>•  contingency pct — 4.0%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53242"/>
                </a:solidFill>
                <a:latin typeface="Calibri"/>
              </a:rPr>
              <a:t>•  indexation pct — 3.0%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6B7785"/>
                </a:solidFill>
                <a:latin typeface="Calibri"/>
              </a:rPr>
              <a:t>ILLUSTRATIVE MODEL — synthetic rates, not NSC pricing.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